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ap-sea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A8D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map-land"/>
          <p:cNvSpPr/>
          <p:nvPr/>
        </p:nvSpPr>
        <p:spPr>
          <a:xfrm>
            <a:off x="-571500" y="2247900"/>
            <a:ext cx="11430000" cy="10706100"/>
          </a:xfrm>
          <a:custGeom>
            <a:avLst/>
            <a:gdLst/>
            <a:ahLst/>
            <a:cxnLst/>
            <a:rect l="l" t="t" r="r" b="b"/>
            <a:pathLst>
              <a:path w="11430000" h="10706100">
                <a:moveTo>
                  <a:pt x="0" y="609600"/>
                </a:moveTo>
                <a:lnTo>
                  <a:pt x="1714500" y="133350"/>
                </a:lnTo>
                <a:lnTo>
                  <a:pt x="3429000" y="0"/>
                </a:lnTo>
                <a:lnTo>
                  <a:pt x="5048250" y="95250"/>
                </a:lnTo>
                <a:lnTo>
                  <a:pt x="6477000" y="342900"/>
                </a:lnTo>
                <a:lnTo>
                  <a:pt x="7810500" y="800100"/>
                </a:lnTo>
                <a:lnTo>
                  <a:pt x="9144000" y="1485900"/>
                </a:lnTo>
                <a:lnTo>
                  <a:pt x="10191750" y="2228850"/>
                </a:lnTo>
                <a:lnTo>
                  <a:pt x="11430000" y="3086100"/>
                </a:lnTo>
                <a:lnTo>
                  <a:pt x="11430000" y="10706100"/>
                </a:lnTo>
                <a:lnTo>
                  <a:pt x="0" y="10706100"/>
                </a:lnTo>
                <a:close/>
              </a:path>
            </a:pathLst>
          </a:custGeom>
          <a:solidFill>
            <a:srgbClr val="F2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map-bay-faxafloi"/>
          <p:cNvSpPr/>
          <p:nvPr/>
        </p:nvSpPr>
        <p:spPr>
          <a:xfrm>
            <a:off x="6572250" y="2247900"/>
            <a:ext cx="4286250" cy="2228850"/>
          </a:xfrm>
          <a:custGeom>
            <a:avLst/>
            <a:gdLst/>
            <a:ahLst/>
            <a:cxnLst/>
            <a:rect l="l" t="t" r="r" b="b"/>
            <a:pathLst>
              <a:path w="4286250" h="2228850">
                <a:moveTo>
                  <a:pt x="0" y="0"/>
                </a:moveTo>
                <a:lnTo>
                  <a:pt x="4286250" y="0"/>
                </a:lnTo>
                <a:lnTo>
                  <a:pt x="4286250" y="2228850"/>
                </a:lnTo>
                <a:lnTo>
                  <a:pt x="2762250" y="1847850"/>
                </a:lnTo>
                <a:lnTo>
                  <a:pt x="1333500" y="1085850"/>
                </a:lnTo>
                <a:lnTo>
                  <a:pt x="285750" y="419100"/>
                </a:lnTo>
                <a:close/>
              </a:path>
            </a:pathLst>
          </a:custGeom>
          <a:solidFill>
            <a:srgbClr val="A8D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map-bay-njardvik"/>
          <p:cNvSpPr/>
          <p:nvPr/>
        </p:nvSpPr>
        <p:spPr>
          <a:xfrm>
            <a:off x="2209800" y="2343150"/>
            <a:ext cx="2743200" cy="1009650"/>
          </a:xfrm>
          <a:custGeom>
            <a:avLst/>
            <a:gdLst/>
            <a:ahLst/>
            <a:cxnLst/>
            <a:rect l="l" t="t" r="r" b="b"/>
            <a:pathLst>
              <a:path w="2743200" h="1009650">
                <a:moveTo>
                  <a:pt x="171450" y="0"/>
                </a:moveTo>
                <a:lnTo>
                  <a:pt x="2266950" y="38100"/>
                </a:lnTo>
                <a:lnTo>
                  <a:pt x="2743200" y="514350"/>
                </a:lnTo>
                <a:lnTo>
                  <a:pt x="1790700" y="1009650"/>
                </a:lnTo>
                <a:lnTo>
                  <a:pt x="647700" y="895350"/>
                </a:lnTo>
                <a:lnTo>
                  <a:pt x="0" y="476250"/>
                </a:lnTo>
                <a:close/>
              </a:path>
            </a:pathLst>
          </a:custGeom>
          <a:solidFill>
            <a:srgbClr val="96C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map-green-1"/>
          <p:cNvSpPr/>
          <p:nvPr/>
        </p:nvSpPr>
        <p:spPr>
          <a:xfrm>
            <a:off x="-381000" y="8572500"/>
            <a:ext cx="4000500" cy="3238500"/>
          </a:xfrm>
          <a:prstGeom prst="ellipse">
            <a:avLst/>
          </a:prstGeom>
          <a:solidFill>
            <a:srgbClr val="C8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map-green-2"/>
          <p:cNvSpPr/>
          <p:nvPr/>
        </p:nvSpPr>
        <p:spPr>
          <a:xfrm>
            <a:off x="6858000" y="6667500"/>
            <a:ext cx="4191000" cy="2952750"/>
          </a:xfrm>
          <a:prstGeom prst="ellipse">
            <a:avLst/>
          </a:prstGeom>
          <a:solidFill>
            <a:srgbClr val="C8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map-lava"/>
          <p:cNvSpPr/>
          <p:nvPr/>
        </p:nvSpPr>
        <p:spPr>
          <a:xfrm>
            <a:off x="3619500" y="10287000"/>
            <a:ext cx="4000500" cy="2667000"/>
          </a:xfrm>
          <a:prstGeom prst="ellipse">
            <a:avLst/>
          </a:prstGeom>
          <a:solidFill>
            <a:srgbClr val="E9E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9" name="road-41-1"/>
          <p:cNvCxnSpPr/>
          <p:nvPr/>
        </p:nvCxnSpPr>
        <p:spPr>
          <a:xfrm flipV="1">
            <a:off x="1428750" y="4305300"/>
            <a:ext cx="1714500" cy="171450"/>
          </a:xfrm>
          <a:prstGeom prst="line">
            <a:avLst/>
          </a:prstGeom>
          <a:ln w="266700" cap="rnd">
            <a:solidFill>
              <a:srgbClr val="FDE0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oad-41-2"/>
          <p:cNvCxnSpPr/>
          <p:nvPr/>
        </p:nvCxnSpPr>
        <p:spPr>
          <a:xfrm>
            <a:off x="3143250" y="4305300"/>
            <a:ext cx="1809750" cy="171450"/>
          </a:xfrm>
          <a:prstGeom prst="line">
            <a:avLst/>
          </a:prstGeom>
          <a:ln w="266700" cap="rnd">
            <a:solidFill>
              <a:srgbClr val="FDE0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oad-41-3"/>
          <p:cNvCxnSpPr/>
          <p:nvPr/>
        </p:nvCxnSpPr>
        <p:spPr>
          <a:xfrm>
            <a:off x="4953000" y="4476750"/>
            <a:ext cx="1714500" cy="476250"/>
          </a:xfrm>
          <a:prstGeom prst="line">
            <a:avLst/>
          </a:prstGeom>
          <a:ln w="266700" cap="rnd">
            <a:solidFill>
              <a:srgbClr val="FDE0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road-41-4"/>
          <p:cNvCxnSpPr/>
          <p:nvPr/>
        </p:nvCxnSpPr>
        <p:spPr>
          <a:xfrm>
            <a:off x="6667500" y="4953000"/>
            <a:ext cx="1524000" cy="762000"/>
          </a:xfrm>
          <a:prstGeom prst="line">
            <a:avLst/>
          </a:prstGeom>
          <a:ln w="266700" cap="rnd">
            <a:solidFill>
              <a:srgbClr val="FDE0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road-41-5"/>
          <p:cNvCxnSpPr/>
          <p:nvPr/>
        </p:nvCxnSpPr>
        <p:spPr>
          <a:xfrm>
            <a:off x="8191500" y="5715000"/>
            <a:ext cx="1143000" cy="857250"/>
          </a:xfrm>
          <a:prstGeom prst="line">
            <a:avLst/>
          </a:prstGeom>
          <a:ln w="266700" cap="rnd">
            <a:solidFill>
              <a:srgbClr val="FDE0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oad-a-1"/>
          <p:cNvCxnSpPr/>
          <p:nvPr/>
        </p:nvCxnSpPr>
        <p:spPr>
          <a:xfrm flipV="1">
            <a:off x="571500" y="5715000"/>
            <a:ext cx="1905000" cy="381000"/>
          </a:xfrm>
          <a:prstGeom prst="line">
            <a:avLst/>
          </a:prstGeom>
          <a:ln w="17145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road-a-2"/>
          <p:cNvCxnSpPr/>
          <p:nvPr/>
        </p:nvCxnSpPr>
        <p:spPr>
          <a:xfrm flipV="1">
            <a:off x="2476500" y="5619750"/>
            <a:ext cx="1619250" cy="95250"/>
          </a:xfrm>
          <a:prstGeom prst="line">
            <a:avLst/>
          </a:prstGeom>
          <a:ln w="17145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road-a-3"/>
          <p:cNvCxnSpPr/>
          <p:nvPr/>
        </p:nvCxnSpPr>
        <p:spPr>
          <a:xfrm>
            <a:off x="4095750" y="5619750"/>
            <a:ext cx="1619250" cy="285750"/>
          </a:xfrm>
          <a:prstGeom prst="line">
            <a:avLst/>
          </a:prstGeom>
          <a:ln w="17145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road-a-4"/>
          <p:cNvCxnSpPr/>
          <p:nvPr/>
        </p:nvCxnSpPr>
        <p:spPr>
          <a:xfrm>
            <a:off x="5715000" y="5905500"/>
            <a:ext cx="1524000" cy="666750"/>
          </a:xfrm>
          <a:prstGeom prst="line">
            <a:avLst/>
          </a:prstGeom>
          <a:ln w="17145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road-a-5"/>
          <p:cNvCxnSpPr/>
          <p:nvPr/>
        </p:nvCxnSpPr>
        <p:spPr>
          <a:xfrm>
            <a:off x="7239000" y="6572250"/>
            <a:ext cx="1333500" cy="1047750"/>
          </a:xfrm>
          <a:prstGeom prst="line">
            <a:avLst/>
          </a:prstGeom>
          <a:ln w="17145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road-b-1"/>
          <p:cNvCxnSpPr/>
          <p:nvPr/>
        </p:nvCxnSpPr>
        <p:spPr>
          <a:xfrm>
            <a:off x="2857500" y="3238500"/>
            <a:ext cx="285750" cy="1066800"/>
          </a:xfrm>
          <a:prstGeom prst="line">
            <a:avLst/>
          </a:prstGeom>
          <a:ln w="15240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road-b-2"/>
          <p:cNvCxnSpPr/>
          <p:nvPr/>
        </p:nvCxnSpPr>
        <p:spPr>
          <a:xfrm>
            <a:off x="3143250" y="4305300"/>
            <a:ext cx="209550" cy="1409700"/>
          </a:xfrm>
          <a:prstGeom prst="line">
            <a:avLst/>
          </a:prstGeom>
          <a:ln w="15240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road-b-3"/>
          <p:cNvCxnSpPr/>
          <p:nvPr/>
        </p:nvCxnSpPr>
        <p:spPr>
          <a:xfrm>
            <a:off x="3352800" y="5715000"/>
            <a:ext cx="152400" cy="1714500"/>
          </a:xfrm>
          <a:prstGeom prst="line">
            <a:avLst/>
          </a:prstGeom>
          <a:ln w="15240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road-b-4"/>
          <p:cNvCxnSpPr/>
          <p:nvPr/>
        </p:nvCxnSpPr>
        <p:spPr>
          <a:xfrm>
            <a:off x="3505200" y="7429500"/>
            <a:ext cx="228600" cy="1905000"/>
          </a:xfrm>
          <a:prstGeom prst="line">
            <a:avLst/>
          </a:prstGeom>
          <a:ln w="15240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road-c-1"/>
          <p:cNvCxnSpPr/>
          <p:nvPr/>
        </p:nvCxnSpPr>
        <p:spPr>
          <a:xfrm flipV="1">
            <a:off x="571500" y="8953500"/>
            <a:ext cx="2286000" cy="381000"/>
          </a:xfrm>
          <a:prstGeom prst="line">
            <a:avLst/>
          </a:prstGeom>
          <a:ln w="15240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road-c-2"/>
          <p:cNvCxnSpPr/>
          <p:nvPr/>
        </p:nvCxnSpPr>
        <p:spPr>
          <a:xfrm>
            <a:off x="2857500" y="8953500"/>
            <a:ext cx="2476500" cy="0"/>
          </a:xfrm>
          <a:prstGeom prst="line">
            <a:avLst/>
          </a:prstGeom>
          <a:ln w="15240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road-c-3"/>
          <p:cNvCxnSpPr/>
          <p:nvPr/>
        </p:nvCxnSpPr>
        <p:spPr>
          <a:xfrm>
            <a:off x="5334000" y="8953500"/>
            <a:ext cx="2095500" cy="381000"/>
          </a:xfrm>
          <a:prstGeom prst="line">
            <a:avLst/>
          </a:prstGeom>
          <a:ln w="15240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road-c-4"/>
          <p:cNvCxnSpPr/>
          <p:nvPr/>
        </p:nvCxnSpPr>
        <p:spPr>
          <a:xfrm>
            <a:off x="7429500" y="9334500"/>
            <a:ext cx="2095500" cy="762000"/>
          </a:xfrm>
          <a:prstGeom prst="line">
            <a:avLst/>
          </a:prstGeom>
          <a:ln w="15240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oad-d-1"/>
          <p:cNvCxnSpPr/>
          <p:nvPr/>
        </p:nvCxnSpPr>
        <p:spPr>
          <a:xfrm>
            <a:off x="5905500" y="4762500"/>
            <a:ext cx="381000" cy="1524000"/>
          </a:xfrm>
          <a:prstGeom prst="line">
            <a:avLst/>
          </a:prstGeom>
          <a:ln w="13335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road-d-2"/>
          <p:cNvCxnSpPr/>
          <p:nvPr/>
        </p:nvCxnSpPr>
        <p:spPr>
          <a:xfrm>
            <a:off x="6286500" y="6286500"/>
            <a:ext cx="381000" cy="1619250"/>
          </a:xfrm>
          <a:prstGeom prst="line">
            <a:avLst/>
          </a:prstGeom>
          <a:ln w="13335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oad-d-3"/>
          <p:cNvCxnSpPr/>
          <p:nvPr/>
        </p:nvCxnSpPr>
        <p:spPr>
          <a:xfrm>
            <a:off x="6667500" y="7905750"/>
            <a:ext cx="381000" cy="1619250"/>
          </a:xfrm>
          <a:prstGeom prst="line">
            <a:avLst/>
          </a:prstGeom>
          <a:ln w="133350" cap="rnd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lbl-faxafloi"/>
          <p:cNvSpPr txBox="1"/>
          <p:nvPr/>
        </p:nvSpPr>
        <p:spPr>
          <a:xfrm>
            <a:off x="6819900" y="2990850"/>
            <a:ext cx="2095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50" b="0">
                <a:solidFill>
                  <a:srgbClr val="6C98B8"/>
                </a:solidFill>
                <a:latin typeface="Poppins"/>
              </a:rPr>
              <a:t>FAXAFLÓI</a:t>
            </a:r>
          </a:p>
        </p:txBody>
      </p:sp>
      <p:sp>
        <p:nvSpPr>
          <p:cNvPr id="31" name="lbl-njardvik"/>
          <p:cNvSpPr txBox="1"/>
          <p:nvPr/>
        </p:nvSpPr>
        <p:spPr>
          <a:xfrm>
            <a:off x="857250" y="6229350"/>
            <a:ext cx="2095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50" b="1">
                <a:solidFill>
                  <a:srgbClr val="80868B"/>
                </a:solidFill>
                <a:latin typeface="Poppins"/>
              </a:rPr>
              <a:t>NJARÐVÍK</a:t>
            </a:r>
          </a:p>
        </p:txBody>
      </p:sp>
      <p:sp>
        <p:nvSpPr>
          <p:cNvPr id="32" name="lbl-keflavik"/>
          <p:cNvSpPr txBox="1"/>
          <p:nvPr/>
        </p:nvSpPr>
        <p:spPr>
          <a:xfrm>
            <a:off x="6057900" y="8401050"/>
            <a:ext cx="2095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50" b="1">
                <a:solidFill>
                  <a:srgbClr val="80868B"/>
                </a:solidFill>
                <a:latin typeface="Poppins"/>
              </a:rPr>
              <a:t>KEFLAVÍK</a:t>
            </a:r>
          </a:p>
        </p:txBody>
      </p:sp>
      <p:sp>
        <p:nvSpPr>
          <p:cNvPr id="33" name="lbl-41"/>
          <p:cNvSpPr txBox="1"/>
          <p:nvPr/>
        </p:nvSpPr>
        <p:spPr>
          <a:xfrm>
            <a:off x="4724400" y="3981450"/>
            <a:ext cx="571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>
                <a:solidFill>
                  <a:srgbClr val="3C4043"/>
                </a:solidFill>
                <a:latin typeface="Poppins"/>
              </a:rPr>
              <a:t>41</a:t>
            </a:r>
          </a:p>
        </p:txBody>
      </p:sp>
      <p:sp>
        <p:nvSpPr>
          <p:cNvPr id="34" name="lbl-reykjanesbraut"/>
          <p:cNvSpPr txBox="1"/>
          <p:nvPr/>
        </p:nvSpPr>
        <p:spPr>
          <a:xfrm>
            <a:off x="914400" y="10515600"/>
            <a:ext cx="28575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0">
                <a:solidFill>
                  <a:srgbClr val="80868B"/>
                </a:solidFill>
                <a:latin typeface="Poppins"/>
              </a:rPr>
              <a:t>Reykjanesbraut</a:t>
            </a:r>
          </a:p>
        </p:txBody>
      </p:sp>
      <p:cxnSp>
        <p:nvCxnSpPr>
          <p:cNvPr id="35" name="route-dash-1"/>
          <p:cNvCxnSpPr/>
          <p:nvPr/>
        </p:nvCxnSpPr>
        <p:spPr>
          <a:xfrm flipV="1">
            <a:off x="2857500" y="5334000"/>
            <a:ext cx="1238250" cy="571500"/>
          </a:xfrm>
          <a:prstGeom prst="line">
            <a:avLst/>
          </a:prstGeom>
          <a:ln w="95250" cap="rnd">
            <a:solidFill>
              <a:srgbClr val="FF7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route-dash-2"/>
          <p:cNvCxnSpPr/>
          <p:nvPr/>
        </p:nvCxnSpPr>
        <p:spPr>
          <a:xfrm flipV="1">
            <a:off x="4095750" y="4953000"/>
            <a:ext cx="1619250" cy="381000"/>
          </a:xfrm>
          <a:prstGeom prst="line">
            <a:avLst/>
          </a:prstGeom>
          <a:ln w="95250" cap="rnd">
            <a:solidFill>
              <a:srgbClr val="FF7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oute-dash-3"/>
          <p:cNvCxnSpPr/>
          <p:nvPr/>
        </p:nvCxnSpPr>
        <p:spPr>
          <a:xfrm flipV="1">
            <a:off x="5715000" y="4476750"/>
            <a:ext cx="1524000" cy="476250"/>
          </a:xfrm>
          <a:prstGeom prst="line">
            <a:avLst/>
          </a:prstGeom>
          <a:ln w="95250" cap="rnd">
            <a:solidFill>
              <a:srgbClr val="FF7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route-dash-4"/>
          <p:cNvCxnSpPr/>
          <p:nvPr/>
        </p:nvCxnSpPr>
        <p:spPr>
          <a:xfrm flipV="1">
            <a:off x="7239000" y="4000500"/>
            <a:ext cx="1143000" cy="476250"/>
          </a:xfrm>
          <a:prstGeom prst="line">
            <a:avLst/>
          </a:prstGeom>
          <a:ln w="95250" cap="rnd">
            <a:solidFill>
              <a:srgbClr val="FF7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route-dash-5"/>
          <p:cNvCxnSpPr/>
          <p:nvPr/>
        </p:nvCxnSpPr>
        <p:spPr>
          <a:xfrm flipV="1">
            <a:off x="8382000" y="3543300"/>
            <a:ext cx="762000" cy="457200"/>
          </a:xfrm>
          <a:prstGeom prst="line">
            <a:avLst/>
          </a:prstGeom>
          <a:ln w="95250" cap="rnd">
            <a:solidFill>
              <a:srgbClr val="FF7A1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pin-warsztat-tip"/>
          <p:cNvSpPr/>
          <p:nvPr/>
        </p:nvSpPr>
        <p:spPr>
          <a:xfrm>
            <a:off x="2555748" y="6115050"/>
            <a:ext cx="603504" cy="863346"/>
          </a:xfrm>
          <a:custGeom>
            <a:avLst/>
            <a:gdLst/>
            <a:ahLst/>
            <a:cxnLst/>
            <a:rect l="l" t="t" r="r" b="b"/>
            <a:pathLst>
              <a:path w="603504" h="863346">
                <a:moveTo>
                  <a:pt x="0" y="0"/>
                </a:moveTo>
                <a:lnTo>
                  <a:pt x="603504" y="0"/>
                </a:lnTo>
                <a:lnTo>
                  <a:pt x="301752" y="863346"/>
                </a:lnTo>
                <a:close/>
              </a:path>
            </a:pathLst>
          </a:cu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pin-warsztat-circle"/>
          <p:cNvSpPr/>
          <p:nvPr/>
        </p:nvSpPr>
        <p:spPr>
          <a:xfrm>
            <a:off x="2438400" y="5486400"/>
            <a:ext cx="838200" cy="838200"/>
          </a:xfrm>
          <a:prstGeom prst="ellipse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pin-warsztat-korona"/>
          <p:cNvSpPr/>
          <p:nvPr/>
        </p:nvSpPr>
        <p:spPr>
          <a:xfrm>
            <a:off x="2638425" y="5671566"/>
            <a:ext cx="438150" cy="315467"/>
          </a:xfrm>
          <a:custGeom>
            <a:avLst/>
            <a:gdLst/>
            <a:ahLst/>
            <a:cxnLst/>
            <a:rect l="l" t="t" r="r" b="b"/>
            <a:pathLst>
              <a:path w="438150" h="315467">
                <a:moveTo>
                  <a:pt x="0" y="315467"/>
                </a:moveTo>
                <a:lnTo>
                  <a:pt x="0" y="78867"/>
                </a:lnTo>
                <a:lnTo>
                  <a:pt x="109537" y="184023"/>
                </a:lnTo>
                <a:lnTo>
                  <a:pt x="219075" y="0"/>
                </a:lnTo>
                <a:lnTo>
                  <a:pt x="328612" y="184023"/>
                </a:lnTo>
                <a:lnTo>
                  <a:pt x="438150" y="78867"/>
                </a:lnTo>
                <a:lnTo>
                  <a:pt x="438150" y="31546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in-warsztat-korona-base"/>
          <p:cNvSpPr/>
          <p:nvPr/>
        </p:nvSpPr>
        <p:spPr>
          <a:xfrm>
            <a:off x="2638425" y="5934456"/>
            <a:ext cx="438150" cy="525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pin-lotnisko-tip"/>
          <p:cNvSpPr/>
          <p:nvPr/>
        </p:nvSpPr>
        <p:spPr>
          <a:xfrm>
            <a:off x="8876538" y="3729037"/>
            <a:ext cx="534924" cy="765239"/>
          </a:xfrm>
          <a:custGeom>
            <a:avLst/>
            <a:gdLst/>
            <a:ahLst/>
            <a:cxnLst/>
            <a:rect l="l" t="t" r="r" b="b"/>
            <a:pathLst>
              <a:path w="534924" h="765239">
                <a:moveTo>
                  <a:pt x="0" y="0"/>
                </a:moveTo>
                <a:lnTo>
                  <a:pt x="534924" y="0"/>
                </a:lnTo>
                <a:lnTo>
                  <a:pt x="267462" y="765239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pin-lotnisko-circle"/>
          <p:cNvSpPr/>
          <p:nvPr/>
        </p:nvSpPr>
        <p:spPr>
          <a:xfrm>
            <a:off x="8772525" y="3171825"/>
            <a:ext cx="742950" cy="74295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pin-lotnisko-samolot"/>
          <p:cNvSpPr/>
          <p:nvPr/>
        </p:nvSpPr>
        <p:spPr>
          <a:xfrm>
            <a:off x="8953976" y="3267075"/>
            <a:ext cx="380047" cy="410051"/>
          </a:xfrm>
          <a:custGeom>
            <a:avLst/>
            <a:gdLst/>
            <a:ahLst/>
            <a:cxnLst/>
            <a:rect l="l" t="t" r="r" b="b"/>
            <a:pathLst>
              <a:path w="380047" h="410051">
                <a:moveTo>
                  <a:pt x="190024" y="0"/>
                </a:moveTo>
                <a:lnTo>
                  <a:pt x="234029" y="170021"/>
                </a:lnTo>
                <a:lnTo>
                  <a:pt x="380047" y="256032"/>
                </a:lnTo>
                <a:lnTo>
                  <a:pt x="380047" y="296037"/>
                </a:lnTo>
                <a:lnTo>
                  <a:pt x="230029" y="260032"/>
                </a:lnTo>
                <a:lnTo>
                  <a:pt x="222028" y="344043"/>
                </a:lnTo>
                <a:lnTo>
                  <a:pt x="280035" y="390048"/>
                </a:lnTo>
                <a:lnTo>
                  <a:pt x="280035" y="410051"/>
                </a:lnTo>
                <a:lnTo>
                  <a:pt x="190024" y="384048"/>
                </a:lnTo>
                <a:lnTo>
                  <a:pt x="100012" y="410051"/>
                </a:lnTo>
                <a:lnTo>
                  <a:pt x="100012" y="390048"/>
                </a:lnTo>
                <a:lnTo>
                  <a:pt x="158020" y="344043"/>
                </a:lnTo>
                <a:lnTo>
                  <a:pt x="150019" y="260032"/>
                </a:lnTo>
                <a:lnTo>
                  <a:pt x="0" y="296037"/>
                </a:lnTo>
                <a:lnTo>
                  <a:pt x="0" y="256032"/>
                </a:lnTo>
                <a:lnTo>
                  <a:pt x="146018" y="17002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lbl-kef"/>
          <p:cNvSpPr txBox="1"/>
          <p:nvPr/>
        </p:nvSpPr>
        <p:spPr>
          <a:xfrm>
            <a:off x="8553450" y="4400550"/>
            <a:ext cx="1333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50" b="1">
                <a:solidFill>
                  <a:srgbClr val="2563EB"/>
                </a:solidFill>
                <a:latin typeface="Poppins"/>
              </a:rPr>
              <a:t>KEF</a:t>
            </a:r>
          </a:p>
        </p:txBody>
      </p:sp>
      <p:sp>
        <p:nvSpPr>
          <p:cNvPr id="48" name="karta-tlo"/>
          <p:cNvSpPr/>
          <p:nvPr/>
        </p:nvSpPr>
        <p:spPr>
          <a:xfrm>
            <a:off x="914400" y="6667500"/>
            <a:ext cx="5372100" cy="14859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karta-nazwa"/>
          <p:cNvSpPr txBox="1"/>
          <p:nvPr/>
        </p:nvSpPr>
        <p:spPr>
          <a:xfrm>
            <a:off x="1181100" y="6858000"/>
            <a:ext cx="38100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550" b="1">
                <a:solidFill>
                  <a:srgbClr val="3C4043"/>
                </a:solidFill>
                <a:latin typeface="Poppins"/>
              </a:rPr>
              <a:t>Mountain Car Garage</a:t>
            </a:r>
          </a:p>
        </p:txBody>
      </p:sp>
      <p:sp>
        <p:nvSpPr>
          <p:cNvPr id="50" name="karta-adres"/>
          <p:cNvSpPr txBox="1"/>
          <p:nvPr/>
        </p:nvSpPr>
        <p:spPr>
          <a:xfrm>
            <a:off x="1181100" y="7334250"/>
            <a:ext cx="38100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75" b="0">
                <a:solidFill>
                  <a:srgbClr val="80868B"/>
                </a:solidFill>
                <a:latin typeface="Poppins"/>
              </a:rPr>
              <a:t>Njarðarbraut 3i, Njarðvík</a:t>
            </a:r>
          </a:p>
        </p:txBody>
      </p:sp>
      <p:sp>
        <p:nvSpPr>
          <p:cNvPr id="51" name="karta-godziny"/>
          <p:cNvSpPr txBox="1"/>
          <p:nvPr/>
        </p:nvSpPr>
        <p:spPr>
          <a:xfrm>
            <a:off x="1181100" y="7715250"/>
            <a:ext cx="4381500" cy="323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75" b="1">
                <a:solidFill>
                  <a:srgbClr val="1A9E5A"/>
                </a:solidFill>
                <a:latin typeface="Poppins"/>
              </a:rPr>
              <a:t>Otwarte  ·  pon–sob 15:00–21:00</a:t>
            </a:r>
          </a:p>
        </p:txBody>
      </p:sp>
      <p:sp>
        <p:nvSpPr>
          <p:cNvPr id="52" name="karta-korona"/>
          <p:cNvSpPr/>
          <p:nvPr/>
        </p:nvSpPr>
        <p:spPr>
          <a:xfrm>
            <a:off x="5648325" y="6942582"/>
            <a:ext cx="400050" cy="288036"/>
          </a:xfrm>
          <a:custGeom>
            <a:avLst/>
            <a:gdLst/>
            <a:ahLst/>
            <a:cxnLst/>
            <a:rect l="l" t="t" r="r" b="b"/>
            <a:pathLst>
              <a:path w="400050" h="288036">
                <a:moveTo>
                  <a:pt x="0" y="288036"/>
                </a:moveTo>
                <a:lnTo>
                  <a:pt x="0" y="72009"/>
                </a:lnTo>
                <a:lnTo>
                  <a:pt x="100012" y="168021"/>
                </a:lnTo>
                <a:lnTo>
                  <a:pt x="200025" y="0"/>
                </a:lnTo>
                <a:lnTo>
                  <a:pt x="300037" y="168021"/>
                </a:lnTo>
                <a:lnTo>
                  <a:pt x="400050" y="72009"/>
                </a:lnTo>
                <a:lnTo>
                  <a:pt x="400050" y="288036"/>
                </a:lnTo>
                <a:close/>
              </a:path>
            </a:pathLst>
          </a:cu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karta-korona-base"/>
          <p:cNvSpPr/>
          <p:nvPr/>
        </p:nvSpPr>
        <p:spPr>
          <a:xfrm>
            <a:off x="5648325" y="7182612"/>
            <a:ext cx="400050" cy="48006"/>
          </a:xfrm>
          <a:prstGeom prst="rect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badge-tlo"/>
          <p:cNvSpPr/>
          <p:nvPr/>
        </p:nvSpPr>
        <p:spPr>
          <a:xfrm>
            <a:off x="5676900" y="1676400"/>
            <a:ext cx="4152900" cy="819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badge-slonce"/>
          <p:cNvSpPr/>
          <p:nvPr/>
        </p:nvSpPr>
        <p:spPr>
          <a:xfrm>
            <a:off x="5972175" y="1885950"/>
            <a:ext cx="400050" cy="400050"/>
          </a:xfrm>
          <a:prstGeom prst="ellipse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6" name="badge-promien-1"/>
          <p:cNvCxnSpPr/>
          <p:nvPr/>
        </p:nvCxnSpPr>
        <p:spPr>
          <a:xfrm>
            <a:off x="6419850" y="2085975"/>
            <a:ext cx="76200" cy="0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badge-promien-2"/>
          <p:cNvCxnSpPr/>
          <p:nvPr/>
        </p:nvCxnSpPr>
        <p:spPr>
          <a:xfrm>
            <a:off x="6386671" y="2209800"/>
            <a:ext cx="65991" cy="38100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badge-promien-3"/>
          <p:cNvCxnSpPr/>
          <p:nvPr/>
        </p:nvCxnSpPr>
        <p:spPr>
          <a:xfrm>
            <a:off x="6296025" y="2300446"/>
            <a:ext cx="38100" cy="65991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badge-promien-4"/>
          <p:cNvCxnSpPr/>
          <p:nvPr/>
        </p:nvCxnSpPr>
        <p:spPr>
          <a:xfrm>
            <a:off x="6172200" y="2333625"/>
            <a:ext cx="0" cy="76200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badge-promien-5"/>
          <p:cNvCxnSpPr/>
          <p:nvPr/>
        </p:nvCxnSpPr>
        <p:spPr>
          <a:xfrm flipH="1">
            <a:off x="6010275" y="2300446"/>
            <a:ext cx="38100" cy="65991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badge-promien-6"/>
          <p:cNvCxnSpPr/>
          <p:nvPr/>
        </p:nvCxnSpPr>
        <p:spPr>
          <a:xfrm flipH="1">
            <a:off x="5891737" y="2209800"/>
            <a:ext cx="65991" cy="38100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badge-promien-7"/>
          <p:cNvCxnSpPr/>
          <p:nvPr/>
        </p:nvCxnSpPr>
        <p:spPr>
          <a:xfrm flipH="1">
            <a:off x="5848350" y="2085975"/>
            <a:ext cx="76200" cy="0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badge-promien-8"/>
          <p:cNvCxnSpPr/>
          <p:nvPr/>
        </p:nvCxnSpPr>
        <p:spPr>
          <a:xfrm flipH="1" flipV="1">
            <a:off x="5891737" y="1924050"/>
            <a:ext cx="65991" cy="38100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badge-promien-9"/>
          <p:cNvCxnSpPr/>
          <p:nvPr/>
        </p:nvCxnSpPr>
        <p:spPr>
          <a:xfrm flipH="1" flipV="1">
            <a:off x="6010275" y="1805512"/>
            <a:ext cx="38100" cy="65991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badge-promien-10"/>
          <p:cNvCxnSpPr/>
          <p:nvPr/>
        </p:nvCxnSpPr>
        <p:spPr>
          <a:xfrm flipV="1">
            <a:off x="6172200" y="1762125"/>
            <a:ext cx="0" cy="76200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badge-promien-11"/>
          <p:cNvCxnSpPr/>
          <p:nvPr/>
        </p:nvCxnSpPr>
        <p:spPr>
          <a:xfrm flipV="1">
            <a:off x="6296025" y="1805512"/>
            <a:ext cx="38100" cy="65991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badge-promien-12"/>
          <p:cNvCxnSpPr/>
          <p:nvPr/>
        </p:nvCxnSpPr>
        <p:spPr>
          <a:xfrm flipV="1">
            <a:off x="6386671" y="1924050"/>
            <a:ext cx="65991" cy="38100"/>
          </a:xfrm>
          <a:prstGeom prst="line">
            <a:avLst/>
          </a:prstGeom>
          <a:ln w="47625" cap="rnd">
            <a:solidFill>
              <a:srgbClr val="FFC4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badge-tekst"/>
          <p:cNvSpPr txBox="1"/>
          <p:nvPr/>
        </p:nvSpPr>
        <p:spPr>
          <a:xfrm>
            <a:off x="6591300" y="1866900"/>
            <a:ext cx="2762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00" b="1">
                <a:solidFill>
                  <a:srgbClr val="3C4043"/>
                </a:solidFill>
                <a:latin typeface="Poppins"/>
              </a:rPr>
              <a:t>ZASŁUŻONE WOLNE</a:t>
            </a:r>
          </a:p>
        </p:txBody>
      </p:sp>
      <p:sp>
        <p:nvSpPr>
          <p:cNvPr id="69" name="badge-korona"/>
          <p:cNvSpPr/>
          <p:nvPr/>
        </p:nvSpPr>
        <p:spPr>
          <a:xfrm>
            <a:off x="9305925" y="1955673"/>
            <a:ext cx="361950" cy="260604"/>
          </a:xfrm>
          <a:custGeom>
            <a:avLst/>
            <a:gdLst/>
            <a:ahLst/>
            <a:cxnLst/>
            <a:rect l="l" t="t" r="r" b="b"/>
            <a:pathLst>
              <a:path w="361950" h="260604">
                <a:moveTo>
                  <a:pt x="0" y="260604"/>
                </a:moveTo>
                <a:lnTo>
                  <a:pt x="0" y="65151"/>
                </a:lnTo>
                <a:lnTo>
                  <a:pt x="90487" y="152019"/>
                </a:lnTo>
                <a:lnTo>
                  <a:pt x="180975" y="0"/>
                </a:lnTo>
                <a:lnTo>
                  <a:pt x="271462" y="152019"/>
                </a:lnTo>
                <a:lnTo>
                  <a:pt x="361950" y="65151"/>
                </a:lnTo>
                <a:lnTo>
                  <a:pt x="361950" y="260604"/>
                </a:lnTo>
                <a:close/>
              </a:path>
            </a:pathLst>
          </a:cu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badge-korona-base"/>
          <p:cNvSpPr/>
          <p:nvPr/>
        </p:nvSpPr>
        <p:spPr>
          <a:xfrm>
            <a:off x="9305925" y="2172843"/>
            <a:ext cx="361950" cy="43433"/>
          </a:xfrm>
          <a:prstGeom prst="rect">
            <a:avLst/>
          </a:prstGeom>
          <a:solidFill>
            <a:srgbClr val="FFC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search-tlo"/>
          <p:cNvSpPr/>
          <p:nvPr/>
        </p:nvSpPr>
        <p:spPr>
          <a:xfrm>
            <a:off x="533400" y="533400"/>
            <a:ext cx="9220200" cy="876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search-lupa"/>
          <p:cNvSpPr/>
          <p:nvPr/>
        </p:nvSpPr>
        <p:spPr>
          <a:xfrm>
            <a:off x="914400" y="800100"/>
            <a:ext cx="419100" cy="419100"/>
          </a:xfrm>
          <a:prstGeom prst="ellipse">
            <a:avLst/>
          </a:prstGeom>
          <a:solidFill>
            <a:srgbClr val="FFFFFF"/>
          </a:solidFill>
          <a:ln w="57150">
            <a:solidFill>
              <a:srgbClr val="808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73" name="search-lupa-raczka"/>
          <p:cNvCxnSpPr/>
          <p:nvPr/>
        </p:nvCxnSpPr>
        <p:spPr>
          <a:xfrm>
            <a:off x="1276350" y="1162050"/>
            <a:ext cx="171450" cy="171450"/>
          </a:xfrm>
          <a:prstGeom prst="line">
            <a:avLst/>
          </a:prstGeom>
          <a:ln w="66675" cap="rnd">
            <a:solidFill>
              <a:srgbClr val="8086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search-tekst"/>
          <p:cNvSpPr txBox="1"/>
          <p:nvPr/>
        </p:nvSpPr>
        <p:spPr>
          <a:xfrm>
            <a:off x="1676400" y="704850"/>
            <a:ext cx="7620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0">
                <a:solidFill>
                  <a:srgbClr val="3C4043"/>
                </a:solidFill>
                <a:latin typeface="Poppins"/>
              </a:rPr>
              <a:t>gdzie zostawić auto na czas urlopu?</a:t>
            </a:r>
          </a:p>
        </p:txBody>
      </p:sp>
      <p:sp>
        <p:nvSpPr>
          <p:cNvPr id="75" name="band-tlo"/>
          <p:cNvSpPr/>
          <p:nvPr/>
        </p:nvSpPr>
        <p:spPr>
          <a:xfrm>
            <a:off x="0" y="9391650"/>
            <a:ext cx="10287000" cy="3467100"/>
          </a:xfrm>
          <a:prstGeom prst="rect">
            <a:avLst/>
          </a:prstGeom>
          <a:solidFill>
            <a:srgbClr val="111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band-linia"/>
          <p:cNvSpPr/>
          <p:nvPr/>
        </p:nvSpPr>
        <p:spPr>
          <a:xfrm>
            <a:off x="0" y="9391650"/>
            <a:ext cx="10287000" cy="76200"/>
          </a:xfrm>
          <a:prstGeom prst="rect">
            <a:avLst/>
          </a:prstGeom>
          <a:solidFill>
            <a:srgbClr val="FF7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band-naglowek-1"/>
          <p:cNvSpPr txBox="1"/>
          <p:nvPr/>
        </p:nvSpPr>
        <p:spPr>
          <a:xfrm>
            <a:off x="571500" y="9734550"/>
            <a:ext cx="93345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650" b="1">
                <a:solidFill>
                  <a:srgbClr val="FFFFFF"/>
                </a:solidFill>
                <a:latin typeface="Poppins"/>
              </a:rPr>
              <a:t>ZOSTAW AUTO U NAS —</a:t>
            </a:r>
          </a:p>
        </p:txBody>
      </p:sp>
      <p:sp>
        <p:nvSpPr>
          <p:cNvPr id="78" name="band-naglowek-2"/>
          <p:cNvSpPr txBox="1"/>
          <p:nvPr/>
        </p:nvSpPr>
        <p:spPr>
          <a:xfrm>
            <a:off x="571500" y="10439400"/>
            <a:ext cx="93345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650" b="1">
                <a:solidFill>
                  <a:srgbClr val="FF7A1A"/>
                </a:solidFill>
                <a:latin typeface="Poppins"/>
              </a:rPr>
              <a:t>LEĆ NA ZASŁUŻONE WOLNE</a:t>
            </a:r>
          </a:p>
        </p:txBody>
      </p:sp>
      <p:sp>
        <p:nvSpPr>
          <p:cNvPr id="79" name="band-sub-1"/>
          <p:cNvSpPr txBox="1"/>
          <p:nvPr/>
        </p:nvSpPr>
        <p:spPr>
          <a:xfrm>
            <a:off x="571500" y="11334750"/>
            <a:ext cx="9334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75" b="0">
                <a:solidFill>
                  <a:srgbClr val="FFFFFF"/>
                </a:solidFill>
                <a:latin typeface="Poppins"/>
              </a:rPr>
              <a:t>Wyjeżdżasz z Islandii? Zostaw samochód w warsztacie</a:t>
            </a:r>
          </a:p>
        </p:txBody>
      </p:sp>
      <p:sp>
        <p:nvSpPr>
          <p:cNvPr id="80" name="band-sub-2"/>
          <p:cNvSpPr txBox="1"/>
          <p:nvPr/>
        </p:nvSpPr>
        <p:spPr>
          <a:xfrm>
            <a:off x="571500" y="11715750"/>
            <a:ext cx="9334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175" b="0">
                <a:solidFill>
                  <a:srgbClr val="FFFFFF"/>
                </a:solidFill>
                <a:latin typeface="Poppins"/>
              </a:rPr>
              <a:t>i odbierz go, kiedy wrócisz.</a:t>
            </a:r>
          </a:p>
        </p:txBody>
      </p:sp>
      <p:sp>
        <p:nvSpPr>
          <p:cNvPr id="81" name="band-kontakt"/>
          <p:cNvSpPr txBox="1"/>
          <p:nvPr/>
        </p:nvSpPr>
        <p:spPr>
          <a:xfrm>
            <a:off x="571500" y="12268200"/>
            <a:ext cx="93345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75" b="1">
                <a:solidFill>
                  <a:srgbClr val="80868B"/>
                </a:solidFill>
                <a:latin typeface="Poppins"/>
              </a:rPr>
              <a:t>MOUNTAIN CAR GARAGE  ·  NJARÐVÍK  ·  WhatsApp +354 888 8005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