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-glowne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6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sek-akcent-lewy"/>
          <p:cNvSpPr/>
          <p:nvPr/>
        </p:nvSpPr>
        <p:spPr>
          <a:xfrm>
            <a:off x="0" y="0"/>
            <a:ext cx="95250" cy="1285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CEHOLDER-logo-wstaw-swoje"/>
          <p:cNvSpPr/>
          <p:nvPr/>
        </p:nvSpPr>
        <p:spPr>
          <a:xfrm>
            <a:off x="685800" y="609600"/>
            <a:ext cx="1104900" cy="1104900"/>
          </a:xfrm>
          <a:prstGeom prst="ellipse">
            <a:avLst/>
          </a:prstGeom>
          <a:noFill/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logo-placeholder-napis"/>
          <p:cNvSpPr txBox="1"/>
          <p:nvPr/>
        </p:nvSpPr>
        <p:spPr>
          <a:xfrm>
            <a:off x="914400" y="9906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50" b="1" spc="200">
                <a:solidFill>
                  <a:srgbClr val="D4AF37"/>
                </a:solidFill>
                <a:latin typeface="Montserrat"/>
              </a:rPr>
              <a:t>MCG</a:t>
            </a:r>
          </a:p>
        </p:txBody>
      </p:sp>
      <p:sp>
        <p:nvSpPr>
          <p:cNvPr id="6" name="kicker-marka"/>
          <p:cNvSpPr txBox="1"/>
          <p:nvPr/>
        </p:nvSpPr>
        <p:spPr>
          <a:xfrm>
            <a:off x="2019300" y="81915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 spc="450">
                <a:solidFill>
                  <a:srgbClr val="FFFFFF"/>
                </a:solidFill>
                <a:latin typeface="Montserrat"/>
              </a:rPr>
              <a:t>MOUNTAIN CAR GARAGE</a:t>
            </a:r>
          </a:p>
        </p:txBody>
      </p:sp>
      <p:sp>
        <p:nvSpPr>
          <p:cNvPr id="7" name="kicker-lokalizacja"/>
          <p:cNvSpPr txBox="1"/>
          <p:nvPr/>
        </p:nvSpPr>
        <p:spPr>
          <a:xfrm>
            <a:off x="2019300" y="11811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75" b="0" spc="300">
                <a:solidFill>
                  <a:srgbClr val="D4AF37"/>
                </a:solidFill>
                <a:latin typeface="Open Sans"/>
              </a:rPr>
              <a:t>NJARÐVÍK · REYKJANESBÆR</a:t>
            </a:r>
          </a:p>
        </p:txBody>
      </p:sp>
      <p:sp>
        <p:nvSpPr>
          <p:cNvPr id="8" name="pasek-stopka"/>
          <p:cNvSpPr/>
          <p:nvPr/>
        </p:nvSpPr>
        <p:spPr>
          <a:xfrm>
            <a:off x="0" y="11430000"/>
            <a:ext cx="10287000" cy="142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1-naglowek"/>
          <p:cNvSpPr txBox="1"/>
          <p:nvPr/>
        </p:nvSpPr>
        <p:spPr>
          <a:xfrm>
            <a:off x="685800" y="2305050"/>
            <a:ext cx="89154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Montserrat"/>
              </a:rPr>
              <a:t>NIE ZOSTAWIAJ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Montserrat"/>
              </a:rPr>
              <a:t>NA OSTATNI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8220"/>
                </a:solidFill>
                <a:latin typeface="Montserrat"/>
              </a:rPr>
              <a:t>TYDZIEŃ.</a:t>
            </a:r>
          </a:p>
        </p:txBody>
      </p:sp>
      <p:sp>
        <p:nvSpPr>
          <p:cNvPr id="10" name="p1-kreska"/>
          <p:cNvSpPr/>
          <p:nvPr/>
        </p:nvSpPr>
        <p:spPr>
          <a:xfrm>
            <a:off x="685800" y="5715000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1-tresc"/>
          <p:cNvSpPr txBox="1"/>
          <p:nvPr/>
        </p:nvSpPr>
        <p:spPr>
          <a:xfrm>
            <a:off x="685800" y="6096000"/>
            <a:ext cx="89154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Auto nie przeszło skoðun. Naprawa drobna —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ale tej części nie ma na Islandii i trzeba ją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zamawiać. A termin leci dalej.</a:t>
            </a:r>
          </a:p>
        </p:txBody>
      </p:sp>
      <p:sp>
        <p:nvSpPr>
          <p:cNvPr id="12" name="karta-kwota-obwodka"/>
          <p:cNvSpPr/>
          <p:nvPr/>
        </p:nvSpPr>
        <p:spPr>
          <a:xfrm>
            <a:off x="685800" y="8305800"/>
            <a:ext cx="8915400" cy="20574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karta-kwota-liczba"/>
          <p:cNvSpPr txBox="1"/>
          <p:nvPr/>
        </p:nvSpPr>
        <p:spPr>
          <a:xfrm>
            <a:off x="1028700" y="8515350"/>
            <a:ext cx="6667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58220"/>
                </a:solidFill>
                <a:latin typeface="Montserrat"/>
              </a:rPr>
              <a:t>20 000 kr</a:t>
            </a:r>
          </a:p>
        </p:txBody>
      </p:sp>
      <p:sp>
        <p:nvSpPr>
          <p:cNvPr id="14" name="karta-kwota-opis"/>
          <p:cNvSpPr txBox="1"/>
          <p:nvPr/>
        </p:nvSpPr>
        <p:spPr>
          <a:xfrm>
            <a:off x="1028700" y="9563100"/>
            <a:ext cx="8229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B2AA"/>
                </a:solidFill>
                <a:latin typeface="Open Sans"/>
              </a:rPr>
              <a:t>vanrækslugjald — kara za niedowiezienie auta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B2AA"/>
                </a:solidFill>
                <a:latin typeface="Open Sans"/>
              </a:rPr>
              <a:t>na przegląd w terminie. Nie za usterkę.</a:t>
            </a:r>
          </a:p>
        </p:txBody>
      </p:sp>
      <p:sp>
        <p:nvSpPr>
          <p:cNvPr id="15" name="stopka-linia-1"/>
          <p:cNvSpPr txBox="1"/>
          <p:nvPr/>
        </p:nvSpPr>
        <p:spPr>
          <a:xfrm>
            <a:off x="685800" y="1167765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25" b="1" spc="150">
                <a:solidFill>
                  <a:srgbClr val="262320"/>
                </a:solidFill>
                <a:latin typeface="Montserrat"/>
              </a:rPr>
              <a:t>WhatsApp  +354 888 8005</a:t>
            </a:r>
          </a:p>
        </p:txBody>
      </p:sp>
      <p:sp>
        <p:nvSpPr>
          <p:cNvPr id="16" name="stopka-linia-2"/>
          <p:cNvSpPr txBox="1"/>
          <p:nvPr/>
        </p:nvSpPr>
        <p:spPr>
          <a:xfrm>
            <a:off x="685800" y="12096750"/>
            <a:ext cx="8953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5" b="0" spc="100">
                <a:solidFill>
                  <a:srgbClr val="262320"/>
                </a:solidFill>
                <a:latin typeface="Open Sans"/>
              </a:rPr>
              <a:t>Njarðarbraut 3i, 260 Njarðvík  ·  pon–sob 15:00–21:00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-glowne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6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sek-akcent-lewy"/>
          <p:cNvSpPr/>
          <p:nvPr/>
        </p:nvSpPr>
        <p:spPr>
          <a:xfrm>
            <a:off x="0" y="0"/>
            <a:ext cx="95250" cy="1285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CEHOLDER-logo-wstaw-swoje"/>
          <p:cNvSpPr/>
          <p:nvPr/>
        </p:nvSpPr>
        <p:spPr>
          <a:xfrm>
            <a:off x="685800" y="609600"/>
            <a:ext cx="1104900" cy="1104900"/>
          </a:xfrm>
          <a:prstGeom prst="ellipse">
            <a:avLst/>
          </a:prstGeom>
          <a:noFill/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logo-placeholder-napis"/>
          <p:cNvSpPr txBox="1"/>
          <p:nvPr/>
        </p:nvSpPr>
        <p:spPr>
          <a:xfrm>
            <a:off x="914400" y="9906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50" b="1" spc="200">
                <a:solidFill>
                  <a:srgbClr val="D4AF37"/>
                </a:solidFill>
                <a:latin typeface="Montserrat"/>
              </a:rPr>
              <a:t>MCG</a:t>
            </a:r>
          </a:p>
        </p:txBody>
      </p:sp>
      <p:sp>
        <p:nvSpPr>
          <p:cNvPr id="6" name="kicker-marka"/>
          <p:cNvSpPr txBox="1"/>
          <p:nvPr/>
        </p:nvSpPr>
        <p:spPr>
          <a:xfrm>
            <a:off x="2019300" y="81915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 spc="450">
                <a:solidFill>
                  <a:srgbClr val="FFFFFF"/>
                </a:solidFill>
                <a:latin typeface="Montserrat"/>
              </a:rPr>
              <a:t>MOUNTAIN CAR GARAGE</a:t>
            </a:r>
          </a:p>
        </p:txBody>
      </p:sp>
      <p:sp>
        <p:nvSpPr>
          <p:cNvPr id="7" name="kicker-lokalizacja"/>
          <p:cNvSpPr txBox="1"/>
          <p:nvPr/>
        </p:nvSpPr>
        <p:spPr>
          <a:xfrm>
            <a:off x="2019300" y="11811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75" b="0" spc="300">
                <a:solidFill>
                  <a:srgbClr val="D4AF37"/>
                </a:solidFill>
                <a:latin typeface="Open Sans"/>
              </a:rPr>
              <a:t>NJARÐVÍK · REYKJANESBÆR</a:t>
            </a:r>
          </a:p>
        </p:txBody>
      </p:sp>
      <p:sp>
        <p:nvSpPr>
          <p:cNvPr id="8" name="pasek-stopka"/>
          <p:cNvSpPr/>
          <p:nvPr/>
        </p:nvSpPr>
        <p:spPr>
          <a:xfrm>
            <a:off x="0" y="11430000"/>
            <a:ext cx="10287000" cy="142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2-naglowek"/>
          <p:cNvSpPr txBox="1"/>
          <p:nvPr/>
        </p:nvSpPr>
        <p:spPr>
          <a:xfrm>
            <a:off x="685800" y="2305050"/>
            <a:ext cx="8915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Montserrat"/>
              </a:rPr>
              <a:t>CZĘŚĆ Z POLSKI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8220"/>
                </a:solidFill>
                <a:latin typeface="Montserrat"/>
              </a:rPr>
              <a:t>WYCHODZI TANIEJ.</a:t>
            </a:r>
          </a:p>
        </p:txBody>
      </p:sp>
      <p:sp>
        <p:nvSpPr>
          <p:cNvPr id="10" name="p2-podtytul"/>
          <p:cNvSpPr txBox="1"/>
          <p:nvPr/>
        </p:nvSpPr>
        <p:spPr>
          <a:xfrm>
            <a:off x="685800" y="4495800"/>
            <a:ext cx="8915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>
                <a:solidFill>
                  <a:srgbClr val="D4AF37"/>
                </a:solidFill>
                <a:latin typeface="Open Sans"/>
              </a:rPr>
              <a:t>Ale potrzebuje czasu na dojazd.</a:t>
            </a:r>
          </a:p>
        </p:txBody>
      </p:sp>
      <p:sp>
        <p:nvSpPr>
          <p:cNvPr id="11" name="p2-kreska"/>
          <p:cNvSpPr/>
          <p:nvPr/>
        </p:nvSpPr>
        <p:spPr>
          <a:xfrm>
            <a:off x="685800" y="5295900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2-linia-1"/>
          <p:cNvSpPr/>
          <p:nvPr/>
        </p:nvSpPr>
        <p:spPr>
          <a:xfrm>
            <a:off x="685800" y="5772150"/>
            <a:ext cx="8915400" cy="19050"/>
          </a:xfrm>
          <a:prstGeom prst="rect">
            <a:avLst/>
          </a:prstGeom>
          <a:solidFill>
            <a:srgbClr val="4A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2-pozycja-1"/>
          <p:cNvSpPr txBox="1"/>
          <p:nvPr/>
        </p:nvSpPr>
        <p:spPr>
          <a:xfrm>
            <a:off x="685800" y="5981700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0">
                <a:solidFill>
                  <a:srgbClr val="FFFFFF"/>
                </a:solidFill>
                <a:latin typeface="Open Sans"/>
              </a:rPr>
              <a:t>Diagnostyka</a:t>
            </a:r>
          </a:p>
        </p:txBody>
      </p:sp>
      <p:sp>
        <p:nvSpPr>
          <p:cNvPr id="14" name="p2-cena-1"/>
          <p:cNvSpPr txBox="1"/>
          <p:nvPr/>
        </p:nvSpPr>
        <p:spPr>
          <a:xfrm>
            <a:off x="5219700" y="5981700"/>
            <a:ext cx="4381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550" b="1">
                <a:solidFill>
                  <a:srgbClr val="F58220"/>
                </a:solidFill>
                <a:latin typeface="Montserrat"/>
              </a:rPr>
              <a:t>9 999 kr</a:t>
            </a:r>
          </a:p>
        </p:txBody>
      </p:sp>
      <p:sp>
        <p:nvSpPr>
          <p:cNvPr id="15" name="p2-linia-2"/>
          <p:cNvSpPr/>
          <p:nvPr/>
        </p:nvSpPr>
        <p:spPr>
          <a:xfrm>
            <a:off x="685800" y="6762750"/>
            <a:ext cx="8915400" cy="19050"/>
          </a:xfrm>
          <a:prstGeom prst="rect">
            <a:avLst/>
          </a:prstGeom>
          <a:solidFill>
            <a:srgbClr val="4A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2-pozycja-2"/>
          <p:cNvSpPr txBox="1"/>
          <p:nvPr/>
        </p:nvSpPr>
        <p:spPr>
          <a:xfrm>
            <a:off x="685800" y="6972300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0">
                <a:solidFill>
                  <a:srgbClr val="FFFFFF"/>
                </a:solidFill>
                <a:latin typeface="Open Sans"/>
              </a:rPr>
              <a:t>Robocizna</a:t>
            </a:r>
          </a:p>
        </p:txBody>
      </p:sp>
      <p:sp>
        <p:nvSpPr>
          <p:cNvPr id="17" name="p2-cena-2"/>
          <p:cNvSpPr txBox="1"/>
          <p:nvPr/>
        </p:nvSpPr>
        <p:spPr>
          <a:xfrm>
            <a:off x="5219700" y="6972300"/>
            <a:ext cx="4381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550" b="1">
                <a:solidFill>
                  <a:srgbClr val="F58220"/>
                </a:solidFill>
                <a:latin typeface="Montserrat"/>
              </a:rPr>
              <a:t>12 400 kr / h</a:t>
            </a:r>
          </a:p>
        </p:txBody>
      </p:sp>
      <p:sp>
        <p:nvSpPr>
          <p:cNvPr id="18" name="p2-linia-3"/>
          <p:cNvSpPr/>
          <p:nvPr/>
        </p:nvSpPr>
        <p:spPr>
          <a:xfrm>
            <a:off x="685800" y="7753350"/>
            <a:ext cx="8915400" cy="19050"/>
          </a:xfrm>
          <a:prstGeom prst="rect">
            <a:avLst/>
          </a:prstGeom>
          <a:solidFill>
            <a:srgbClr val="4A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2-pozycja-3"/>
          <p:cNvSpPr txBox="1"/>
          <p:nvPr/>
        </p:nvSpPr>
        <p:spPr>
          <a:xfrm>
            <a:off x="685800" y="7962900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0">
                <a:solidFill>
                  <a:srgbClr val="FFFFFF"/>
                </a:solidFill>
                <a:latin typeface="Open Sans"/>
              </a:rPr>
              <a:t>Koszt naprawy</a:t>
            </a:r>
          </a:p>
        </p:txBody>
      </p:sp>
      <p:sp>
        <p:nvSpPr>
          <p:cNvPr id="20" name="p2-cena-3"/>
          <p:cNvSpPr txBox="1"/>
          <p:nvPr/>
        </p:nvSpPr>
        <p:spPr>
          <a:xfrm>
            <a:off x="5219700" y="7962900"/>
            <a:ext cx="4381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550" b="1">
                <a:solidFill>
                  <a:srgbClr val="F58220"/>
                </a:solidFill>
                <a:latin typeface="Montserrat"/>
              </a:rPr>
              <a:t>po obejrzeniu auta</a:t>
            </a:r>
          </a:p>
        </p:txBody>
      </p:sp>
      <p:sp>
        <p:nvSpPr>
          <p:cNvPr id="21" name="p2-zastrzezenie"/>
          <p:cNvSpPr txBox="1"/>
          <p:nvPr/>
        </p:nvSpPr>
        <p:spPr>
          <a:xfrm>
            <a:off x="685800" y="8934450"/>
            <a:ext cx="8915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0">
                <a:solidFill>
                  <a:srgbClr val="B8B2AA"/>
                </a:solidFill>
                <a:latin typeface="Open Sans"/>
              </a:rPr>
              <a:t>Ceny naprawy nie podaję, zanim nie zobaczę</a:t>
            </a:r>
          </a:p>
          <a:p>
            <a:pPr algn="l">
              <a:lnSpc>
                <a:spcPct val="130000"/>
              </a:lnSpc>
            </a:pPr>
            <a:r>
              <a:rPr sz="2250" b="0">
                <a:solidFill>
                  <a:srgbClr val="B8B2AA"/>
                </a:solidFill>
                <a:latin typeface="Open Sans"/>
              </a:rPr>
              <a:t>auta. Nic nie robimy bez Twojej zgody.</a:t>
            </a:r>
          </a:p>
        </p:txBody>
      </p:sp>
      <p:sp>
        <p:nvSpPr>
          <p:cNvPr id="22" name="stopka-linia-1"/>
          <p:cNvSpPr txBox="1"/>
          <p:nvPr/>
        </p:nvSpPr>
        <p:spPr>
          <a:xfrm>
            <a:off x="685800" y="1167765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25" b="1" spc="150">
                <a:solidFill>
                  <a:srgbClr val="262320"/>
                </a:solidFill>
                <a:latin typeface="Montserrat"/>
              </a:rPr>
              <a:t>WhatsApp  +354 888 8005</a:t>
            </a:r>
          </a:p>
        </p:txBody>
      </p:sp>
      <p:sp>
        <p:nvSpPr>
          <p:cNvPr id="23" name="stopka-linia-2"/>
          <p:cNvSpPr txBox="1"/>
          <p:nvPr/>
        </p:nvSpPr>
        <p:spPr>
          <a:xfrm>
            <a:off x="685800" y="12096750"/>
            <a:ext cx="8953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5" b="0" spc="100">
                <a:solidFill>
                  <a:srgbClr val="262320"/>
                </a:solidFill>
                <a:latin typeface="Open Sans"/>
              </a:rPr>
              <a:t>Njarðarbraut 3i, 260 Njarðvík  ·  pon–sob 15:00–21:00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-glowne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6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sek-akcent-lewy"/>
          <p:cNvSpPr/>
          <p:nvPr/>
        </p:nvSpPr>
        <p:spPr>
          <a:xfrm>
            <a:off x="0" y="0"/>
            <a:ext cx="95250" cy="1285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CEHOLDER-logo-wstaw-swoje"/>
          <p:cNvSpPr/>
          <p:nvPr/>
        </p:nvSpPr>
        <p:spPr>
          <a:xfrm>
            <a:off x="685800" y="609600"/>
            <a:ext cx="1104900" cy="1104900"/>
          </a:xfrm>
          <a:prstGeom prst="ellipse">
            <a:avLst/>
          </a:prstGeom>
          <a:noFill/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logo-placeholder-napis"/>
          <p:cNvSpPr txBox="1"/>
          <p:nvPr/>
        </p:nvSpPr>
        <p:spPr>
          <a:xfrm>
            <a:off x="914400" y="99060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50" b="1" spc="200">
                <a:solidFill>
                  <a:srgbClr val="D4AF37"/>
                </a:solidFill>
                <a:latin typeface="Montserrat"/>
              </a:rPr>
              <a:t>MCG</a:t>
            </a:r>
          </a:p>
        </p:txBody>
      </p:sp>
      <p:sp>
        <p:nvSpPr>
          <p:cNvPr id="6" name="kicker-marka"/>
          <p:cNvSpPr txBox="1"/>
          <p:nvPr/>
        </p:nvSpPr>
        <p:spPr>
          <a:xfrm>
            <a:off x="2019300" y="81915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 spc="450">
                <a:solidFill>
                  <a:srgbClr val="FFFFFF"/>
                </a:solidFill>
                <a:latin typeface="Montserrat"/>
              </a:rPr>
              <a:t>MOUNTAIN CAR GARAGE</a:t>
            </a:r>
          </a:p>
        </p:txBody>
      </p:sp>
      <p:sp>
        <p:nvSpPr>
          <p:cNvPr id="7" name="kicker-lokalizacja"/>
          <p:cNvSpPr txBox="1"/>
          <p:nvPr/>
        </p:nvSpPr>
        <p:spPr>
          <a:xfrm>
            <a:off x="2019300" y="11811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75" b="0" spc="300">
                <a:solidFill>
                  <a:srgbClr val="D4AF37"/>
                </a:solidFill>
                <a:latin typeface="Open Sans"/>
              </a:rPr>
              <a:t>NJARÐVÍK · REYKJANESBÆR, ICELAND</a:t>
            </a:r>
          </a:p>
        </p:txBody>
      </p:sp>
      <p:sp>
        <p:nvSpPr>
          <p:cNvPr id="8" name="pasek-stopka"/>
          <p:cNvSpPr/>
          <p:nvPr/>
        </p:nvSpPr>
        <p:spPr>
          <a:xfrm>
            <a:off x="0" y="11430000"/>
            <a:ext cx="10287000" cy="142875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3-naglowek"/>
          <p:cNvSpPr txBox="1"/>
          <p:nvPr/>
        </p:nvSpPr>
        <p:spPr>
          <a:xfrm>
            <a:off x="685800" y="2305050"/>
            <a:ext cx="89154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Montserrat"/>
              </a:rPr>
              <a:t>DON'T LEAVE IT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Montserrat"/>
              </a:rPr>
              <a:t>TO THE LAST</a:t>
            </a:r>
          </a:p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8220"/>
                </a:solidFill>
                <a:latin typeface="Montserrat"/>
              </a:rPr>
              <a:t>WEEK.</a:t>
            </a:r>
          </a:p>
        </p:txBody>
      </p:sp>
      <p:sp>
        <p:nvSpPr>
          <p:cNvPr id="10" name="p3-kreska"/>
          <p:cNvSpPr/>
          <p:nvPr/>
        </p:nvSpPr>
        <p:spPr>
          <a:xfrm>
            <a:off x="685800" y="5715000"/>
            <a:ext cx="1428750" cy="571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3-tresc"/>
          <p:cNvSpPr txBox="1"/>
          <p:nvPr/>
        </p:nvSpPr>
        <p:spPr>
          <a:xfrm>
            <a:off x="685800" y="6096000"/>
            <a:ext cx="89154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Failed inspection is rarely the big repair.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The part is often not in Iceland — it has to be</a:t>
            </a:r>
          </a:p>
          <a:p>
            <a:pPr algn="l">
              <a:lnSpc>
                <a:spcPct val="135000"/>
              </a:lnSpc>
            </a:pPr>
            <a:r>
              <a:rPr sz="2400" b="0">
                <a:solidFill>
                  <a:srgbClr val="B8B2AA"/>
                </a:solidFill>
                <a:latin typeface="Open Sans"/>
              </a:rPr>
              <a:t>ordered. Your inspection month does not wait.</a:t>
            </a:r>
          </a:p>
        </p:txBody>
      </p:sp>
      <p:sp>
        <p:nvSpPr>
          <p:cNvPr id="12" name="karta-kwota-obwodka"/>
          <p:cNvSpPr/>
          <p:nvPr/>
        </p:nvSpPr>
        <p:spPr>
          <a:xfrm>
            <a:off x="685800" y="8305800"/>
            <a:ext cx="8915400" cy="2057400"/>
          </a:xfrm>
          <a:prstGeom prst="roundRect">
            <a:avLst>
              <a:gd name="adj" fmla="val 10000"/>
            </a:avLst>
          </a:prstGeom>
          <a:noFill/>
          <a:ln w="381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karta-kwota-liczba"/>
          <p:cNvSpPr txBox="1"/>
          <p:nvPr/>
        </p:nvSpPr>
        <p:spPr>
          <a:xfrm>
            <a:off x="1028700" y="8515350"/>
            <a:ext cx="6667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58220"/>
                </a:solidFill>
                <a:latin typeface="Montserrat"/>
              </a:rPr>
              <a:t>20,000 kr</a:t>
            </a:r>
          </a:p>
        </p:txBody>
      </p:sp>
      <p:sp>
        <p:nvSpPr>
          <p:cNvPr id="14" name="karta-kwota-opis"/>
          <p:cNvSpPr txBox="1"/>
          <p:nvPr/>
        </p:nvSpPr>
        <p:spPr>
          <a:xfrm>
            <a:off x="1028700" y="9563100"/>
            <a:ext cx="8229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B2AA"/>
                </a:solidFill>
                <a:latin typeface="Open Sans"/>
              </a:rPr>
              <a:t>vanrækslugjald — the late fee for missing your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B8B2AA"/>
                </a:solidFill>
                <a:latin typeface="Open Sans"/>
              </a:rPr>
              <a:t>inspection month. Not for the fault itself.</a:t>
            </a:r>
          </a:p>
        </p:txBody>
      </p:sp>
      <p:sp>
        <p:nvSpPr>
          <p:cNvPr id="15" name="stopka-linia-1"/>
          <p:cNvSpPr txBox="1"/>
          <p:nvPr/>
        </p:nvSpPr>
        <p:spPr>
          <a:xfrm>
            <a:off x="685800" y="1167765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25" b="1" spc="150">
                <a:solidFill>
                  <a:srgbClr val="262320"/>
                </a:solidFill>
                <a:latin typeface="Montserrat"/>
              </a:rPr>
              <a:t>WhatsApp  +354 888 8005</a:t>
            </a:r>
          </a:p>
        </p:txBody>
      </p:sp>
      <p:sp>
        <p:nvSpPr>
          <p:cNvPr id="16" name="stopka-linia-2"/>
          <p:cNvSpPr txBox="1"/>
          <p:nvPr/>
        </p:nvSpPr>
        <p:spPr>
          <a:xfrm>
            <a:off x="685800" y="12096750"/>
            <a:ext cx="8953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25" b="0" spc="100">
                <a:solidFill>
                  <a:srgbClr val="262320"/>
                </a:solidFill>
                <a:latin typeface="Open Sans"/>
              </a:rPr>
              <a:t>Njarðarbraut 3i, 260 Njarðvík  ·  Mon–Sat 15:00–21:00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